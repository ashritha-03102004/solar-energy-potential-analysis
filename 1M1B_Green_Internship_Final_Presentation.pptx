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BCAD085-E8A6-8845-BD4E-CB4CCA059FC4}" type="datetimeFigureOut">
              <a:rPr lang="en-US" smtClean="0"/>
              <a:t>10/1/2025</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sp>
    </p:spTree>
    <p:extLst>
      <p:ext uri="{BB962C8B-B14F-4D97-AF65-F5344CB8AC3E}">
        <p14:creationId xmlns:p14="http://schemas.microsoft.com/office/powerpoint/2010/main" val="1755965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BCAD085-E8A6-8845-BD4E-CB4CCA059FC4}" type="datetimeFigureOut">
              <a:rPr lang="en-US" smtClean="0"/>
              <a:t>10/1/2025</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14668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48413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45296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82505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95625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28041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6598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463606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6151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807227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39198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32109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225697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172453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521218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39240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10/1/2025</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4964973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shritha03102004@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7645" y="484187"/>
            <a:ext cx="7772400" cy="1470025"/>
          </a:xfrm>
        </p:spPr>
        <p:txBody>
          <a:bodyPr>
            <a:normAutofit fontScale="90000"/>
          </a:bodyPr>
          <a:lstStyle/>
          <a:p>
            <a:r>
              <a:rPr dirty="0"/>
              <a:t>Solar Energy Potential Analysis</a:t>
            </a:r>
          </a:p>
        </p:txBody>
      </p:sp>
      <p:sp>
        <p:nvSpPr>
          <p:cNvPr id="3" name="Subtitle 2"/>
          <p:cNvSpPr>
            <a:spLocks noGrp="1"/>
          </p:cNvSpPr>
          <p:nvPr>
            <p:ph type="subTitle" idx="1"/>
          </p:nvPr>
        </p:nvSpPr>
        <p:spPr>
          <a:xfrm>
            <a:off x="1174955" y="2416174"/>
            <a:ext cx="6553200" cy="3493013"/>
          </a:xfrm>
        </p:spPr>
        <p:txBody>
          <a:bodyPr>
            <a:normAutofit/>
          </a:bodyPr>
          <a:lstStyle/>
          <a:p>
            <a:r>
              <a:rPr dirty="0"/>
              <a:t>1M1B Green Internship – Batch 5</a:t>
            </a:r>
          </a:p>
          <a:p>
            <a:r>
              <a:rPr dirty="0"/>
              <a:t>Intern Name: Ashritha Reddy Annareddy</a:t>
            </a:r>
          </a:p>
          <a:p>
            <a:r>
              <a:rPr dirty="0"/>
              <a:t>ID: 1M1BGI050029</a:t>
            </a:r>
          </a:p>
          <a:p>
            <a:r>
              <a:rPr dirty="0"/>
              <a:t>Student ID: 22R61A0508</a:t>
            </a:r>
          </a:p>
          <a:p>
            <a:r>
              <a:rPr dirty="0"/>
              <a:t>Email: </a:t>
            </a:r>
            <a:r>
              <a:rPr dirty="0">
                <a:hlinkClick r:id="rId2"/>
              </a:rPr>
              <a:t>ashritha03102004@gmail.com</a:t>
            </a:r>
            <a:endParaRPr lang="en-US" dirty="0"/>
          </a:p>
          <a:p>
            <a:r>
              <a:rPr lang="en-US" dirty="0"/>
              <a:t>AICTE Internship Student Registration ID: STU6815a52f2f6591746249007</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normAutofit fontScale="77500" lnSpcReduction="20000"/>
          </a:bodyPr>
          <a:lstStyle/>
          <a:p>
            <a:pPr marL="0" indent="0">
              <a:buNone/>
            </a:pPr>
            <a:r>
              <a:rPr lang="en-US" dirty="0"/>
              <a:t>Solar energy plays a crucial role in achieving sustainable development by providing a clean, renewable, and reliable alternative to fossil fuels. It not only reduces greenhouse gas emissions but also strengthens energy security, creates green jobs, and supports community resilience. </a:t>
            </a:r>
          </a:p>
          <a:p>
            <a:pPr marL="0" indent="0">
              <a:buNone/>
            </a:pPr>
            <a:r>
              <a:rPr lang="en-US" dirty="0"/>
              <a:t>However, assessing solar energy viability at the community level comes with challenges such as variations in sunlight due to local geography and climate, limited access to accurate geospatial and meteorological data, rooftop suitability issues, and fluctuating economic feasibility based on tariffs.</a:t>
            </a:r>
          </a:p>
          <a:p>
            <a:pPr marL="0" indent="0">
              <a:buNone/>
            </a:pPr>
            <a:r>
              <a:rPr lang="en-US" dirty="0"/>
              <a:t> To address these challenges, this project aims to develop a data-driven tool that can map solar potential and predict energy output, thereby enabling informed decisions and promoting wider adoption of solar power.</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Collection &amp; Tools</a:t>
            </a:r>
          </a:p>
        </p:txBody>
      </p:sp>
      <p:sp>
        <p:nvSpPr>
          <p:cNvPr id="3" name="Content Placeholder 2"/>
          <p:cNvSpPr>
            <a:spLocks noGrp="1"/>
          </p:cNvSpPr>
          <p:nvPr>
            <p:ph idx="1"/>
          </p:nvPr>
        </p:nvSpPr>
        <p:spPr/>
        <p:txBody>
          <a:bodyPr>
            <a:normAutofit fontScale="92500" lnSpcReduction="10000"/>
          </a:bodyPr>
          <a:lstStyle/>
          <a:p>
            <a:r>
              <a:rPr lang="en-IN" b="1" dirty="0"/>
              <a:t>Geospatial Data</a:t>
            </a:r>
            <a:r>
              <a:rPr lang="en-IN" dirty="0"/>
              <a:t>: Land use, rooftop areas, solar irradiance</a:t>
            </a:r>
          </a:p>
          <a:p>
            <a:r>
              <a:rPr lang="en-IN" b="1" dirty="0"/>
              <a:t>Meteorological Data</a:t>
            </a:r>
            <a:r>
              <a:rPr lang="en-IN" dirty="0"/>
              <a:t>: Sunlight hours, temperature, cloud cover</a:t>
            </a:r>
          </a:p>
          <a:p>
            <a:r>
              <a:rPr lang="en-IN" b="1" dirty="0"/>
              <a:t>Economic Data</a:t>
            </a:r>
            <a:r>
              <a:rPr lang="en-IN" dirty="0"/>
              <a:t>: Local electricity tariffs for cost–benefit analysis</a:t>
            </a:r>
          </a:p>
          <a:p>
            <a:r>
              <a:rPr lang="en-IN" b="1" dirty="0"/>
              <a:t>Tools Used</a:t>
            </a:r>
            <a:r>
              <a:rPr lang="en-IN" dirty="0"/>
              <a:t>:</a:t>
            </a:r>
          </a:p>
          <a:p>
            <a:pPr lvl="1"/>
            <a:r>
              <a:rPr lang="en-IN" dirty="0"/>
              <a:t>Python → Data processing &amp; machine learning </a:t>
            </a:r>
            <a:r>
              <a:rPr lang="en-IN" dirty="0" err="1"/>
              <a:t>modeling</a:t>
            </a:r>
            <a:endParaRPr lang="en-IN" dirty="0"/>
          </a:p>
          <a:p>
            <a:pPr lvl="1"/>
            <a:r>
              <a:rPr lang="en-IN" dirty="0"/>
              <a:t>QGIS → Geospatial mapping &amp; visualization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Geospatial Analysis</a:t>
            </a:r>
          </a:p>
        </p:txBody>
      </p:sp>
      <p:sp>
        <p:nvSpPr>
          <p:cNvPr id="3" name="Content Placeholder 2"/>
          <p:cNvSpPr>
            <a:spLocks noGrp="1"/>
          </p:cNvSpPr>
          <p:nvPr>
            <p:ph idx="1"/>
          </p:nvPr>
        </p:nvSpPr>
        <p:spPr/>
        <p:txBody>
          <a:bodyPr/>
          <a:lstStyle/>
          <a:p>
            <a:r>
              <a:rPr lang="en-US" b="1" dirty="0"/>
              <a:t>Imported &amp; processed</a:t>
            </a:r>
            <a:r>
              <a:rPr lang="en-US" dirty="0"/>
              <a:t> multiple geospatial layers in QGIS</a:t>
            </a:r>
          </a:p>
          <a:p>
            <a:r>
              <a:rPr lang="en-US" b="1" dirty="0"/>
              <a:t>Applied Elevation Models</a:t>
            </a:r>
            <a:r>
              <a:rPr lang="en-US" dirty="0"/>
              <a:t> to account for shading, slope, and terrain impact</a:t>
            </a:r>
          </a:p>
          <a:p>
            <a:r>
              <a:rPr lang="en-US" b="1" dirty="0"/>
              <a:t>Identified high-potential solar zones</a:t>
            </a:r>
            <a:r>
              <a:rPr lang="en-US" dirty="0"/>
              <a:t> using irradiation and rooftop suitability criteria</a:t>
            </a:r>
          </a:p>
          <a:p>
            <a:r>
              <a:rPr lang="en-US" b="1" dirty="0"/>
              <a:t>Automated workflow</a:t>
            </a:r>
            <a:r>
              <a:rPr lang="en-US" dirty="0"/>
              <a:t> with Python scripts to ensure accuracy and repeatability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 Regression Model</a:t>
            </a:r>
          </a:p>
        </p:txBody>
      </p:sp>
      <p:sp>
        <p:nvSpPr>
          <p:cNvPr id="3" name="Content Placeholder 2"/>
          <p:cNvSpPr>
            <a:spLocks noGrp="1"/>
          </p:cNvSpPr>
          <p:nvPr>
            <p:ph idx="1"/>
          </p:nvPr>
        </p:nvSpPr>
        <p:spPr/>
        <p:txBody>
          <a:bodyPr>
            <a:normAutofit fontScale="47500" lnSpcReduction="20000"/>
          </a:bodyPr>
          <a:lstStyle/>
          <a:p>
            <a:pPr marL="0" indent="0">
              <a:buNone/>
            </a:pPr>
            <a:endParaRPr lang="en-IN" dirty="0"/>
          </a:p>
          <a:p>
            <a:r>
              <a:rPr lang="en-IN" dirty="0"/>
              <a:t>Features used:</a:t>
            </a:r>
          </a:p>
          <a:p>
            <a:pPr lvl="1"/>
            <a:r>
              <a:rPr lang="en-IN" dirty="0"/>
              <a:t>Rooftop area</a:t>
            </a:r>
          </a:p>
          <a:p>
            <a:pPr lvl="1"/>
            <a:r>
              <a:rPr lang="en-IN" dirty="0"/>
              <a:t>Solar irradiation</a:t>
            </a:r>
          </a:p>
          <a:p>
            <a:pPr lvl="1"/>
            <a:r>
              <a:rPr lang="en-IN" dirty="0"/>
              <a:t>Ambient and module temperature</a:t>
            </a:r>
          </a:p>
          <a:p>
            <a:pPr lvl="1"/>
            <a:r>
              <a:rPr lang="en-IN" dirty="0"/>
              <a:t>Local electricity tariffs</a:t>
            </a:r>
          </a:p>
          <a:p>
            <a:r>
              <a:rPr lang="en-IN" dirty="0"/>
              <a:t>Model selected: </a:t>
            </a:r>
          </a:p>
          <a:p>
            <a:pPr lvl="1"/>
            <a:r>
              <a:rPr lang="en-IN" dirty="0"/>
              <a:t>Gradient Boosting Regressor for robust nonlinear regression and good handling of complex feature interactions</a:t>
            </a:r>
          </a:p>
          <a:p>
            <a:r>
              <a:rPr lang="en-IN" dirty="0"/>
              <a:t>Data preparation:</a:t>
            </a:r>
          </a:p>
          <a:p>
            <a:pPr lvl="1"/>
            <a:r>
              <a:rPr lang="en-IN" dirty="0"/>
              <a:t>Split dataset into training (80%) and testing (20%) sets</a:t>
            </a:r>
          </a:p>
          <a:p>
            <a:pPr lvl="1"/>
            <a:r>
              <a:rPr lang="en-IN" dirty="0"/>
              <a:t>Ensured representative sampling for reliable evaluation</a:t>
            </a:r>
          </a:p>
          <a:p>
            <a:r>
              <a:rPr lang="en-IN" dirty="0"/>
              <a:t>Model performance:</a:t>
            </a:r>
          </a:p>
          <a:p>
            <a:pPr lvl="1"/>
            <a:r>
              <a:rPr lang="en-IN" dirty="0"/>
              <a:t>Achieved Mean Absolute Error (MAE) indicating precise average prediction accuracy</a:t>
            </a:r>
          </a:p>
          <a:p>
            <a:pPr lvl="1"/>
            <a:r>
              <a:rPr lang="en-IN" dirty="0"/>
              <a:t>Obtained Root Mean Squared Error (RMSE) reflecting low prediction variance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128701F-BDBD-82F3-1E28-B72BE2DA1801}"/>
              </a:ext>
            </a:extLst>
          </p:cNvPr>
          <p:cNvPicPr>
            <a:picLocks noChangeAspect="1"/>
          </p:cNvPicPr>
          <p:nvPr/>
        </p:nvPicPr>
        <p:blipFill>
          <a:blip r:embed="rId2"/>
          <a:stretch>
            <a:fillRect/>
          </a:stretch>
        </p:blipFill>
        <p:spPr>
          <a:xfrm>
            <a:off x="4318837" y="962645"/>
            <a:ext cx="4681417" cy="2591837"/>
          </a:xfrm>
          <a:prstGeom prst="rect">
            <a:avLst/>
          </a:prstGeom>
        </p:spPr>
      </p:pic>
      <p:sp>
        <p:nvSpPr>
          <p:cNvPr id="2" name="Title 1"/>
          <p:cNvSpPr>
            <a:spLocks noGrp="1"/>
          </p:cNvSpPr>
          <p:nvPr>
            <p:ph type="title"/>
          </p:nvPr>
        </p:nvSpPr>
        <p:spPr>
          <a:xfrm>
            <a:off x="3813823" y="-533399"/>
            <a:ext cx="7704667" cy="1981200"/>
          </a:xfrm>
        </p:spPr>
        <p:txBody>
          <a:bodyPr/>
          <a:lstStyle/>
          <a:p>
            <a:pPr algn="l"/>
            <a:r>
              <a:rPr dirty="0"/>
              <a:t>Results &amp; Visualizations</a:t>
            </a:r>
          </a:p>
        </p:txBody>
      </p:sp>
      <p:pic>
        <p:nvPicPr>
          <p:cNvPr id="5" name="Content Placeholder 4">
            <a:extLst>
              <a:ext uri="{FF2B5EF4-FFF2-40B4-BE49-F238E27FC236}">
                <a16:creationId xmlns:a16="http://schemas.microsoft.com/office/drawing/2014/main" id="{73B90DDD-BA78-AE15-F8BA-94DA32C07627}"/>
              </a:ext>
            </a:extLst>
          </p:cNvPr>
          <p:cNvPicPr>
            <a:picLocks noGrp="1" noChangeAspect="1"/>
          </p:cNvPicPr>
          <p:nvPr>
            <p:ph idx="1"/>
          </p:nvPr>
        </p:nvPicPr>
        <p:blipFill>
          <a:blip r:embed="rId3"/>
          <a:stretch>
            <a:fillRect/>
          </a:stretch>
        </p:blipFill>
        <p:spPr>
          <a:xfrm>
            <a:off x="0" y="2487563"/>
            <a:ext cx="4399838" cy="3296264"/>
          </a:xfrm>
        </p:spPr>
      </p:pic>
      <p:pic>
        <p:nvPicPr>
          <p:cNvPr id="7" name="Picture 6">
            <a:extLst>
              <a:ext uri="{FF2B5EF4-FFF2-40B4-BE49-F238E27FC236}">
                <a16:creationId xmlns:a16="http://schemas.microsoft.com/office/drawing/2014/main" id="{5CFA439A-FAF0-CB5F-48D7-D96BA7E9AEC8}"/>
              </a:ext>
            </a:extLst>
          </p:cNvPr>
          <p:cNvPicPr>
            <a:picLocks noChangeAspect="1"/>
          </p:cNvPicPr>
          <p:nvPr/>
        </p:nvPicPr>
        <p:blipFill>
          <a:blip r:embed="rId4"/>
          <a:stretch>
            <a:fillRect/>
          </a:stretch>
        </p:blipFill>
        <p:spPr>
          <a:xfrm>
            <a:off x="4195642" y="3923858"/>
            <a:ext cx="4804612" cy="259183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Stakeholder Engagement</a:t>
            </a:r>
          </a:p>
        </p:txBody>
      </p:sp>
      <p:sp>
        <p:nvSpPr>
          <p:cNvPr id="7" name="Rectangle 4">
            <a:extLst>
              <a:ext uri="{FF2B5EF4-FFF2-40B4-BE49-F238E27FC236}">
                <a16:creationId xmlns:a16="http://schemas.microsoft.com/office/drawing/2014/main" id="{53A3004D-CC6C-D4AB-AE75-CD1E41CD68FE}"/>
              </a:ext>
            </a:extLst>
          </p:cNvPr>
          <p:cNvSpPr>
            <a:spLocks noGrp="1" noChangeArrowheads="1"/>
          </p:cNvSpPr>
          <p:nvPr>
            <p:ph idx="1"/>
          </p:nvPr>
        </p:nvSpPr>
        <p:spPr bwMode="auto">
          <a:xfrm>
            <a:off x="457201" y="2339687"/>
            <a:ext cx="8155858"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Key Stakeholders</a:t>
            </a:r>
            <a:r>
              <a:rPr kumimoji="0" lang="en-US" altLang="en-US" b="0" i="0" u="none" strike="noStrike" cap="none" normalizeH="0" baseline="0" dirty="0">
                <a:ln>
                  <a:noFill/>
                </a:ln>
                <a:solidFill>
                  <a:schemeClr val="tx1"/>
                </a:solidFill>
                <a:effectLst/>
              </a:rPr>
              <a:t>: Local communities, policymakers, and NGOs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Workshops Conducted</a:t>
            </a:r>
            <a:r>
              <a:rPr kumimoji="0" lang="en-US" altLang="en-US" b="0" i="0" u="none" strike="noStrike" cap="none" normalizeH="0" baseline="0" dirty="0">
                <a:ln>
                  <a:noFill/>
                </a:ln>
                <a:solidFill>
                  <a:schemeClr val="tx1"/>
                </a:solidFill>
                <a:effectLst/>
              </a:rPr>
              <a:t>: Shared site-specific solar potential reports to raise awareness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Feedback Collection</a:t>
            </a:r>
            <a:r>
              <a:rPr kumimoji="0" lang="en-US" altLang="en-US" b="0" i="0" u="none" strike="noStrike" cap="none" normalizeH="0" baseline="0" dirty="0">
                <a:ln>
                  <a:noFill/>
                </a:ln>
                <a:solidFill>
                  <a:schemeClr val="tx1"/>
                </a:solidFill>
                <a:effectLst/>
              </a:rPr>
              <a:t>: Gathered insights to improve the tool and plan for future scaling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&amp; Learnings</a:t>
            </a:r>
          </a:p>
        </p:txBody>
      </p:sp>
      <p:sp>
        <p:nvSpPr>
          <p:cNvPr id="3" name="Content Placeholder 2"/>
          <p:cNvSpPr>
            <a:spLocks noGrp="1"/>
          </p:cNvSpPr>
          <p:nvPr>
            <p:ph idx="1"/>
          </p:nvPr>
        </p:nvSpPr>
        <p:spPr/>
        <p:txBody>
          <a:bodyPr>
            <a:normAutofit lnSpcReduction="10000"/>
          </a:bodyPr>
          <a:lstStyle/>
          <a:p>
            <a:r>
              <a:rPr lang="en-IN" b="1" dirty="0"/>
              <a:t>Data Challenges</a:t>
            </a:r>
            <a:r>
              <a:rPr lang="en-IN" dirty="0"/>
              <a:t>: Handling fragmented and multi-source geospatial datasets</a:t>
            </a:r>
          </a:p>
          <a:p>
            <a:r>
              <a:rPr lang="en-IN" b="1" dirty="0" err="1"/>
              <a:t>Modeling</a:t>
            </a:r>
            <a:r>
              <a:rPr lang="en-IN" b="1" dirty="0"/>
              <a:t> Challenge</a:t>
            </a:r>
            <a:r>
              <a:rPr lang="en-IN" dirty="0"/>
              <a:t>: Balancing prediction accuracy with interpretability</a:t>
            </a:r>
          </a:p>
          <a:p>
            <a:r>
              <a:rPr lang="en-IN" b="1" dirty="0"/>
              <a:t>Visualization Challenge</a:t>
            </a:r>
            <a:r>
              <a:rPr lang="en-IN" dirty="0"/>
              <a:t>: Creating clear outputs for non-technical audiences</a:t>
            </a:r>
          </a:p>
          <a:p>
            <a:r>
              <a:rPr lang="en-IN" b="1" dirty="0"/>
              <a:t>Key Learnings</a:t>
            </a:r>
            <a:r>
              <a:rPr lang="en-IN" dirty="0"/>
              <a:t>: Improved skills in Python, GIS, ML </a:t>
            </a:r>
            <a:r>
              <a:rPr lang="en-IN" dirty="0" err="1"/>
              <a:t>modeling</a:t>
            </a:r>
            <a:r>
              <a:rPr lang="en-IN" dirty="0"/>
              <a:t>, and reporting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Roadmap</a:t>
            </a:r>
          </a:p>
        </p:txBody>
      </p:sp>
      <p:sp>
        <p:nvSpPr>
          <p:cNvPr id="6" name="Rectangle 3">
            <a:extLst>
              <a:ext uri="{FF2B5EF4-FFF2-40B4-BE49-F238E27FC236}">
                <a16:creationId xmlns:a16="http://schemas.microsoft.com/office/drawing/2014/main" id="{0AEB9A81-54BB-7E15-8831-E1B9D02C5214}"/>
              </a:ext>
            </a:extLst>
          </p:cNvPr>
          <p:cNvSpPr>
            <a:spLocks noGrp="1" noChangeArrowheads="1"/>
          </p:cNvSpPr>
          <p:nvPr>
            <p:ph idx="1"/>
          </p:nvPr>
        </p:nvSpPr>
        <p:spPr bwMode="auto">
          <a:xfrm>
            <a:off x="457200" y="1970356"/>
            <a:ext cx="764458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rPr>
              <a:t>Integration</a:t>
            </a:r>
            <a:r>
              <a:rPr kumimoji="0" lang="en-US" altLang="en-US" sz="3000" b="0" i="0" u="none" strike="noStrike" cap="none" normalizeH="0" baseline="0" dirty="0">
                <a:ln>
                  <a:noFill/>
                </a:ln>
                <a:solidFill>
                  <a:schemeClr val="tx1"/>
                </a:solidFill>
                <a:effectLst/>
              </a:rPr>
              <a:t>: Collaborate with municipal planning and renewable energy programs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rPr>
              <a:t>Accessibility</a:t>
            </a:r>
            <a:r>
              <a:rPr kumimoji="0" lang="en-US" altLang="en-US" sz="3000" b="0" i="0" u="none" strike="noStrike" cap="none" normalizeH="0" baseline="0" dirty="0">
                <a:ln>
                  <a:noFill/>
                </a:ln>
                <a:solidFill>
                  <a:schemeClr val="tx1"/>
                </a:solidFill>
                <a:effectLst/>
              </a:rPr>
              <a:t>: Develop a web-based dashboard for wider public and stakeholder use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rPr>
              <a:t>Continuous Updates</a:t>
            </a:r>
            <a:r>
              <a:rPr kumimoji="0" lang="en-US" altLang="en-US" sz="3000" b="0" i="0" u="none" strike="noStrike" cap="none" normalizeH="0" baseline="0" dirty="0">
                <a:ln>
                  <a:noFill/>
                </a:ln>
                <a:solidFill>
                  <a:schemeClr val="tx1"/>
                </a:solidFill>
                <a:effectLst/>
              </a:rPr>
              <a:t>: Incorporate new datasets and add advanced features regularly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000" b="1" i="0" u="none" strike="noStrike" cap="none" normalizeH="0" baseline="0" dirty="0">
                <a:ln>
                  <a:noFill/>
                </a:ln>
                <a:solidFill>
                  <a:schemeClr val="tx1"/>
                </a:solidFill>
                <a:effectLst/>
              </a:rPr>
              <a:t>Outreach</a:t>
            </a:r>
            <a:r>
              <a:rPr kumimoji="0" lang="en-US" altLang="en-US" sz="3000" b="0" i="0" u="none" strike="noStrike" cap="none" normalizeH="0" baseline="0" dirty="0">
                <a:ln>
                  <a:noFill/>
                </a:ln>
                <a:solidFill>
                  <a:schemeClr val="tx1"/>
                </a:solidFill>
                <a:effectLst/>
              </a:rPr>
              <a:t>: Promote solar adoption through targeted awareness and engagement programs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Acknowledgments &amp; Contact</a:t>
            </a:r>
          </a:p>
        </p:txBody>
      </p:sp>
      <p:sp>
        <p:nvSpPr>
          <p:cNvPr id="3" name="Content Placeholder 2"/>
          <p:cNvSpPr>
            <a:spLocks noGrp="1"/>
          </p:cNvSpPr>
          <p:nvPr>
            <p:ph idx="1"/>
          </p:nvPr>
        </p:nvSpPr>
        <p:spPr/>
        <p:txBody>
          <a:bodyPr/>
          <a:lstStyle/>
          <a:p>
            <a:r>
              <a:rPr dirty="0"/>
              <a:t>Thanks to 1M1B Green Internship Team and Mentors</a:t>
            </a:r>
          </a:p>
          <a:p>
            <a:r>
              <a:rPr dirty="0"/>
              <a:t>Contact: ashritha03102004@gmail.com | +91 90363 71972</a:t>
            </a:r>
            <a:endParaRPr lang="en-US" dirty="0"/>
          </a:p>
          <a:p>
            <a:r>
              <a:rPr lang="en-US" dirty="0"/>
              <a:t>AICTE Internship Student Registration ID: STU6815a52f2f6591746249007</a:t>
            </a:r>
            <a:endParaRP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12</TotalTime>
  <Words>505</Words>
  <Application>Microsoft Office PowerPoint</Application>
  <PresentationFormat>On-screen Show (4:3)</PresentationFormat>
  <Paragraphs>57</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Corbel</vt:lpstr>
      <vt:lpstr>Parallax</vt:lpstr>
      <vt:lpstr>Solar Energy Potential Analysis</vt:lpstr>
      <vt:lpstr>Introduction</vt:lpstr>
      <vt:lpstr>Data Collection &amp; Tools</vt:lpstr>
      <vt:lpstr>Geospatial Analysis</vt:lpstr>
      <vt:lpstr>AI Regression Model</vt:lpstr>
      <vt:lpstr>Results &amp; Visualizations</vt:lpstr>
      <vt:lpstr>Stakeholder Engagement</vt:lpstr>
      <vt:lpstr>Challenges &amp; Learnings</vt:lpstr>
      <vt:lpstr>Future Roadmap</vt:lpstr>
      <vt:lpstr>Acknowledgments &amp; Contact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Ashrithareddy A</cp:lastModifiedBy>
  <cp:revision>2</cp:revision>
  <dcterms:created xsi:type="dcterms:W3CDTF">2013-01-27T09:14:16Z</dcterms:created>
  <dcterms:modified xsi:type="dcterms:W3CDTF">2025-10-01T07:20:03Z</dcterms:modified>
  <cp:category/>
</cp:coreProperties>
</file>